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Lst>
  <p:sldIdLst>
    <p:sldId id="256" r:id="rId2"/>
    <p:sldId id="294" r:id="rId3"/>
    <p:sldId id="277" r:id="rId4"/>
    <p:sldId id="278" r:id="rId5"/>
    <p:sldId id="293"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olatorio" initials="S" lastIdx="1" clrIdx="0">
    <p:extLst>
      <p:ext uri="{19B8F6BF-5375-455C-9EA6-DF929625EA0E}">
        <p15:presenceInfo xmlns:p15="http://schemas.microsoft.com/office/powerpoint/2012/main" userId="Solatorio"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6600"/>
    <a:srgbClr val="FFCCFF"/>
    <a:srgbClr val="66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85" d="100"/>
          <a:sy n="85" d="100"/>
        </p:scale>
        <p:origin x="547"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commentAuthors" Target="commentAuthor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06A93B9-0F04-49EB-9AC4-95DC21AB395B}" type="datetimeFigureOut">
              <a:rPr lang="en-US" smtClean="0"/>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89C3A2-570C-4FAE-87A7-385128510CE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094231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6A93B9-0F04-49EB-9AC4-95DC21AB395B}" type="datetimeFigureOut">
              <a:rPr lang="en-US" smtClean="0"/>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89C3A2-570C-4FAE-87A7-385128510CE1}" type="slidenum">
              <a:rPr lang="en-US" smtClean="0"/>
              <a:t>‹#›</a:t>
            </a:fld>
            <a:endParaRPr lang="en-US"/>
          </a:p>
        </p:txBody>
      </p:sp>
    </p:spTree>
    <p:extLst>
      <p:ext uri="{BB962C8B-B14F-4D97-AF65-F5344CB8AC3E}">
        <p14:creationId xmlns:p14="http://schemas.microsoft.com/office/powerpoint/2010/main" val="20262037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6A93B9-0F04-49EB-9AC4-95DC21AB395B}" type="datetimeFigureOut">
              <a:rPr lang="en-US" smtClean="0"/>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89C3A2-570C-4FAE-87A7-385128510CE1}"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76969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06A93B9-0F04-49EB-9AC4-95DC21AB395B}" type="datetimeFigureOut">
              <a:rPr lang="en-US" smtClean="0"/>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89C3A2-570C-4FAE-87A7-385128510CE1}" type="slidenum">
              <a:rPr lang="en-US" smtClean="0"/>
              <a:t>‹#›</a:t>
            </a:fld>
            <a:endParaRPr lang="en-US"/>
          </a:p>
        </p:txBody>
      </p:sp>
    </p:spTree>
    <p:extLst>
      <p:ext uri="{BB962C8B-B14F-4D97-AF65-F5344CB8AC3E}">
        <p14:creationId xmlns:p14="http://schemas.microsoft.com/office/powerpoint/2010/main" val="36219775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06A93B9-0F04-49EB-9AC4-95DC21AB395B}" type="datetimeFigureOut">
              <a:rPr lang="en-US" smtClean="0"/>
              <a:t>3/23/2026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889C3A2-570C-4FAE-87A7-385128510CE1}" type="slidenum">
              <a:rPr lang="en-US" smtClean="0"/>
              <a:t>‹#›</a:t>
            </a:fld>
            <a:endParaRPr lang="en-US"/>
          </a:p>
        </p:txBody>
      </p:sp>
    </p:spTree>
    <p:extLst>
      <p:ext uri="{BB962C8B-B14F-4D97-AF65-F5344CB8AC3E}">
        <p14:creationId xmlns:p14="http://schemas.microsoft.com/office/powerpoint/2010/main" val="13746722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06A93B9-0F04-49EB-9AC4-95DC21AB395B}" type="datetimeFigureOut">
              <a:rPr lang="en-US" smtClean="0"/>
              <a:t>3/23/2026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889C3A2-570C-4FAE-87A7-385128510CE1}" type="slidenum">
              <a:rPr lang="en-US" smtClean="0"/>
              <a:t>‹#›</a:t>
            </a:fld>
            <a:endParaRPr lang="en-US"/>
          </a:p>
        </p:txBody>
      </p:sp>
    </p:spTree>
    <p:extLst>
      <p:ext uri="{BB962C8B-B14F-4D97-AF65-F5344CB8AC3E}">
        <p14:creationId xmlns:p14="http://schemas.microsoft.com/office/powerpoint/2010/main" val="28153794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B06A93B9-0F04-49EB-9AC4-95DC21AB395B}" type="datetimeFigureOut">
              <a:rPr lang="en-US" smtClean="0"/>
              <a:t>3/23/2026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7889C3A2-570C-4FAE-87A7-385128510CE1}" type="slidenum">
              <a:rPr lang="en-US" smtClean="0"/>
              <a:t>‹#›</a:t>
            </a:fld>
            <a:endParaRPr lang="en-US"/>
          </a:p>
        </p:txBody>
      </p:sp>
    </p:spTree>
    <p:extLst>
      <p:ext uri="{BB962C8B-B14F-4D97-AF65-F5344CB8AC3E}">
        <p14:creationId xmlns:p14="http://schemas.microsoft.com/office/powerpoint/2010/main" val="33133277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B06A93B9-0F04-49EB-9AC4-95DC21AB395B}" type="datetimeFigureOut">
              <a:rPr lang="en-US" smtClean="0"/>
              <a:t>3/23/2026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7889C3A2-570C-4FAE-87A7-385128510CE1}" type="slidenum">
              <a:rPr lang="en-US" smtClean="0"/>
              <a:t>‹#›</a:t>
            </a:fld>
            <a:endParaRPr lang="en-US"/>
          </a:p>
        </p:txBody>
      </p:sp>
    </p:spTree>
    <p:extLst>
      <p:ext uri="{BB962C8B-B14F-4D97-AF65-F5344CB8AC3E}">
        <p14:creationId xmlns:p14="http://schemas.microsoft.com/office/powerpoint/2010/main" val="28213758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06A93B9-0F04-49EB-9AC4-95DC21AB395B}" type="datetimeFigureOut">
              <a:rPr lang="en-US" smtClean="0"/>
              <a:t>3/23/2026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89C3A2-570C-4FAE-87A7-385128510CE1}" type="slidenum">
              <a:rPr lang="en-US" smtClean="0"/>
              <a:t>‹#›</a:t>
            </a:fld>
            <a:endParaRPr lang="en-US"/>
          </a:p>
        </p:txBody>
      </p:sp>
    </p:spTree>
    <p:extLst>
      <p:ext uri="{BB962C8B-B14F-4D97-AF65-F5344CB8AC3E}">
        <p14:creationId xmlns:p14="http://schemas.microsoft.com/office/powerpoint/2010/main" val="32233466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6A93B9-0F04-49EB-9AC4-95DC21AB395B}" type="datetimeFigureOut">
              <a:rPr lang="en-US" smtClean="0"/>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89C3A2-570C-4FAE-87A7-385128510CE1}" type="slidenum">
              <a:rPr lang="en-US" smtClean="0"/>
              <a:t>‹#›</a:t>
            </a:fld>
            <a:endParaRPr lang="en-US"/>
          </a:p>
        </p:txBody>
      </p:sp>
    </p:spTree>
    <p:extLst>
      <p:ext uri="{BB962C8B-B14F-4D97-AF65-F5344CB8AC3E}">
        <p14:creationId xmlns:p14="http://schemas.microsoft.com/office/powerpoint/2010/main" val="3361056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6A93B9-0F04-49EB-9AC4-95DC21AB395B}" type="datetimeFigureOut">
              <a:rPr lang="en-US" smtClean="0"/>
              <a:t>3/23/2026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89C3A2-570C-4FAE-87A7-385128510CE1}" type="slidenum">
              <a:rPr lang="en-US" smtClean="0"/>
              <a:t>‹#›</a:t>
            </a:fld>
            <a:endParaRPr lang="en-US"/>
          </a:p>
        </p:txBody>
      </p:sp>
    </p:spTree>
    <p:extLst>
      <p:ext uri="{BB962C8B-B14F-4D97-AF65-F5344CB8AC3E}">
        <p14:creationId xmlns:p14="http://schemas.microsoft.com/office/powerpoint/2010/main" val="24821058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B06A93B9-0F04-49EB-9AC4-95DC21AB395B}" type="datetimeFigureOut">
              <a:rPr lang="en-US" smtClean="0"/>
              <a:t>3/23/2026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7889C3A2-570C-4FAE-87A7-385128510CE1}"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8886042"/>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84663" y="-8467"/>
            <a:ext cx="12403663" cy="1151471"/>
            <a:chOff x="-84663" y="-8467"/>
            <a:chExt cx="12403663" cy="1151471"/>
          </a:xfrm>
        </p:grpSpPr>
        <p:sp>
          <p:nvSpPr>
            <p:cNvPr id="21" name="Rectangle 20"/>
            <p:cNvSpPr/>
            <p:nvPr/>
          </p:nvSpPr>
          <p:spPr>
            <a:xfrm>
              <a:off x="0" y="-8467"/>
              <a:ext cx="12192000" cy="115147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1"/>
            <p:cNvSpPr txBox="1">
              <a:spLocks/>
            </p:cNvSpPr>
            <p:nvPr/>
          </p:nvSpPr>
          <p:spPr>
            <a:xfrm>
              <a:off x="-84663" y="67739"/>
              <a:ext cx="12403663" cy="1049865"/>
            </a:xfrm>
            <a:prstGeom prst="rect">
              <a:avLst/>
            </a:prstGeom>
            <a:solidFill>
              <a:schemeClr val="bg1"/>
            </a:solidFill>
            <a:effectLst>
              <a:softEdge rad="63500"/>
            </a:effectLst>
          </p:spPr>
          <p:txBody>
            <a:bodyPr vert="horz" lIns="91440" tIns="45720" rIns="91440" bIns="45720" rtlCol="0" anchor="b">
              <a:noAutofit/>
            </a:bodyPr>
            <a:lstStyle>
              <a:lvl1pPr algn="l" defTabSz="914400" rtl="0" eaLnBrk="1" latinLnBrk="0" hangingPunct="1">
                <a:lnSpc>
                  <a:spcPct val="90000"/>
                </a:lnSpc>
                <a:spcBef>
                  <a:spcPct val="0"/>
                </a:spcBef>
                <a:buNone/>
                <a:defRPr sz="6000" kern="1200" cap="all" baseline="0">
                  <a:solidFill>
                    <a:schemeClr val="tx1"/>
                  </a:solidFill>
                  <a:latin typeface="+mj-lt"/>
                  <a:ea typeface="+mj-ea"/>
                  <a:cs typeface="+mj-cs"/>
                </a:defRPr>
              </a:lvl1pPr>
            </a:lstStyle>
            <a:p>
              <a:pPr algn="ctr"/>
              <a:r>
                <a:rPr lang="en-US" sz="1600" cap="none" dirty="0">
                  <a:ln w="0"/>
                  <a:effectLst>
                    <a:outerShdw blurRad="38100" dist="19050" dir="2700000" algn="tl" rotWithShape="0">
                      <a:schemeClr val="dk1">
                        <a:alpha val="40000"/>
                      </a:schemeClr>
                    </a:outerShdw>
                  </a:effectLst>
                </a:rPr>
                <a:t>PAMANTASAN NG LUNGSOD NG MUNTINLUPA</a:t>
              </a:r>
              <a:br>
                <a:rPr lang="en-US" sz="1400" cap="none" dirty="0">
                  <a:ln w="0"/>
                  <a:effectLst>
                    <a:outerShdw blurRad="38100" dist="19050" dir="2700000" algn="tl" rotWithShape="0">
                      <a:schemeClr val="dk1">
                        <a:alpha val="40000"/>
                      </a:schemeClr>
                    </a:outerShdw>
                  </a:effectLst>
                </a:rPr>
              </a:br>
              <a:r>
                <a:rPr lang="en-US" sz="900" i="1" cap="none" dirty="0">
                  <a:ln w="0"/>
                  <a:effectLst>
                    <a:outerShdw blurRad="38100" dist="19050" dir="2700000" algn="tl" rotWithShape="0">
                      <a:schemeClr val="dk1">
                        <a:alpha val="40000"/>
                      </a:schemeClr>
                    </a:outerShdw>
                  </a:effectLst>
                </a:rPr>
                <a:t>University Road, Poblacion, Muntinlupa City</a:t>
              </a:r>
              <a:endParaRPr lang="en-US" sz="1800" i="1" cap="none" dirty="0">
                <a:ln w="0"/>
                <a:effectLst>
                  <a:outerShdw blurRad="38100" dist="19050" dir="2700000" algn="tl" rotWithShape="0">
                    <a:schemeClr val="dk1">
                      <a:alpha val="40000"/>
                    </a:schemeClr>
                  </a:outerShdw>
                </a:effectLst>
              </a:endParaRPr>
            </a:p>
            <a:p>
              <a:pPr algn="ctr"/>
              <a:r>
                <a:rPr lang="en-US" sz="1800" cap="none"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College of Information Technology and Computer Studies</a:t>
              </a:r>
            </a:p>
            <a:p>
              <a:pPr algn="ctr"/>
              <a:endParaRPr lang="en-US" sz="1600" cap="none"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pic>
          <p:nvPicPr>
            <p:cNvPr id="10" name="Picture 9"/>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35625" y="110866"/>
              <a:ext cx="943108" cy="911046"/>
            </a:xfrm>
            <a:prstGeom prst="rect">
              <a:avLst/>
            </a:prstGeom>
            <a:noFill/>
            <a:ln>
              <a:noFill/>
            </a:ln>
          </p:spPr>
        </p:pic>
        <p:pic>
          <p:nvPicPr>
            <p:cNvPr id="11" name="Picture 10" descr="CITCS Logo - Copy.pn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836368" y="150074"/>
              <a:ext cx="1105321" cy="812568"/>
            </a:xfrm>
            <a:prstGeom prst="rect">
              <a:avLst/>
            </a:prstGeom>
            <a:noFill/>
            <a:ln>
              <a:noFill/>
            </a:ln>
          </p:spPr>
        </p:pic>
      </p:grpSp>
      <p:sp>
        <p:nvSpPr>
          <p:cNvPr id="13" name="TextBox 12"/>
          <p:cNvSpPr txBox="1"/>
          <p:nvPr/>
        </p:nvSpPr>
        <p:spPr>
          <a:xfrm>
            <a:off x="357809" y="2140914"/>
            <a:ext cx="11198087" cy="2123658"/>
          </a:xfrm>
          <a:prstGeom prst="rect">
            <a:avLst/>
          </a:prstGeom>
          <a:solidFill>
            <a:schemeClr val="bg1">
              <a:lumMod val="85000"/>
              <a:lumOff val="15000"/>
            </a:schemeClr>
          </a:solidFill>
        </p:spPr>
        <p:txBody>
          <a:bodyPr wrap="square" rtlCol="0">
            <a:spAutoFit/>
          </a:bodyPr>
          <a:lstStyle/>
          <a:p>
            <a:pPr algn="ctr"/>
            <a:r>
              <a:rPr lang="en-US" sz="4400" dirty="0"/>
              <a:t>Development of an Educational Quiz Mobile Application with Interactive Learning and Adaptive Assessment Features </a:t>
            </a:r>
          </a:p>
        </p:txBody>
      </p:sp>
    </p:spTree>
    <p:extLst>
      <p:ext uri="{BB962C8B-B14F-4D97-AF65-F5344CB8AC3E}">
        <p14:creationId xmlns:p14="http://schemas.microsoft.com/office/powerpoint/2010/main" val="29217231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1186130"/>
            <a:ext cx="10058400" cy="551229"/>
          </a:xfrm>
        </p:spPr>
        <p:txBody>
          <a:bodyPr>
            <a:normAutofit fontScale="90000"/>
          </a:bodyPr>
          <a:lstStyle/>
          <a:p>
            <a:pPr lvl="0" fontAlgn="base"/>
            <a:r>
              <a:rPr lang="en-PH" sz="3600" b="1" dirty="0"/>
              <a:t>Definition of the Topic </a:t>
            </a:r>
            <a:r>
              <a:rPr lang="en-PH" sz="3600" dirty="0"/>
              <a:t>( About the Project )</a:t>
            </a:r>
          </a:p>
        </p:txBody>
      </p:sp>
      <p:sp>
        <p:nvSpPr>
          <p:cNvPr id="3" name="Content Placeholder 2"/>
          <p:cNvSpPr>
            <a:spLocks noGrp="1"/>
          </p:cNvSpPr>
          <p:nvPr>
            <p:ph idx="1"/>
          </p:nvPr>
        </p:nvSpPr>
        <p:spPr>
          <a:xfrm>
            <a:off x="820309" y="2229987"/>
            <a:ext cx="10551381" cy="3441883"/>
          </a:xfrm>
        </p:spPr>
        <p:txBody>
          <a:bodyPr>
            <a:noAutofit/>
          </a:bodyPr>
          <a:lstStyle/>
          <a:p>
            <a:pPr algn="just"/>
            <a:r>
              <a:rPr lang="en-US" sz="2400" dirty="0"/>
              <a:t>This project focuses on the development of an educational quiz mobile application designed to address the limitations of existing assessment tools. The application features an adaptive assessment engine that adjusts question difficulty based on individual student performance, ensuring that each learner receives a personalized experience. It also incorporates interactive learning elements such as gamification and real-time feedback to enhance student engagement and motivation. Additionally, the application includes a teacher dashboard that provides learning analytics and allows educators to manage quiz content to ensure alignment with formal curriculum standards. The application is designed to function offline, making it accessible even in areas with limited internet connectivity.</a:t>
            </a:r>
            <a:br>
              <a:rPr lang="en-US" sz="2400" dirty="0"/>
            </a:br>
            <a:endParaRPr lang="en-US" sz="2400" dirty="0"/>
          </a:p>
        </p:txBody>
      </p:sp>
      <p:grpSp>
        <p:nvGrpSpPr>
          <p:cNvPr id="7" name="Group 6"/>
          <p:cNvGrpSpPr/>
          <p:nvPr/>
        </p:nvGrpSpPr>
        <p:grpSpPr>
          <a:xfrm>
            <a:off x="-84663" y="-8467"/>
            <a:ext cx="12403663" cy="1151471"/>
            <a:chOff x="-84663" y="-8467"/>
            <a:chExt cx="12403663" cy="1151471"/>
          </a:xfrm>
        </p:grpSpPr>
        <p:sp>
          <p:nvSpPr>
            <p:cNvPr id="8" name="Rectangle 7"/>
            <p:cNvSpPr/>
            <p:nvPr/>
          </p:nvSpPr>
          <p:spPr>
            <a:xfrm>
              <a:off x="0" y="-8467"/>
              <a:ext cx="12192000" cy="115147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p:cNvSpPr txBox="1">
              <a:spLocks/>
            </p:cNvSpPr>
            <p:nvPr/>
          </p:nvSpPr>
          <p:spPr>
            <a:xfrm>
              <a:off x="-84663" y="67739"/>
              <a:ext cx="12403663" cy="1049865"/>
            </a:xfrm>
            <a:prstGeom prst="rect">
              <a:avLst/>
            </a:prstGeom>
            <a:solidFill>
              <a:schemeClr val="bg1"/>
            </a:solidFill>
            <a:effectLst>
              <a:softEdge rad="63500"/>
            </a:effectLst>
          </p:spPr>
          <p:txBody>
            <a:bodyPr vert="horz" lIns="91440" tIns="45720" rIns="91440" bIns="45720" rtlCol="0" anchor="b">
              <a:noAutofit/>
            </a:bodyPr>
            <a:lstStyle>
              <a:lvl1pPr algn="l" defTabSz="914400" rtl="0" eaLnBrk="1" latinLnBrk="0" hangingPunct="1">
                <a:lnSpc>
                  <a:spcPct val="90000"/>
                </a:lnSpc>
                <a:spcBef>
                  <a:spcPct val="0"/>
                </a:spcBef>
                <a:buNone/>
                <a:defRPr sz="6000" kern="1200" cap="all" baseline="0">
                  <a:solidFill>
                    <a:schemeClr val="tx1"/>
                  </a:solidFill>
                  <a:latin typeface="+mj-lt"/>
                  <a:ea typeface="+mj-ea"/>
                  <a:cs typeface="+mj-cs"/>
                </a:defRPr>
              </a:lvl1pPr>
            </a:lstStyle>
            <a:p>
              <a:pPr algn="ctr"/>
              <a:r>
                <a:rPr lang="en-US" sz="1600" cap="none" dirty="0">
                  <a:ln w="0"/>
                  <a:effectLst>
                    <a:outerShdw blurRad="38100" dist="19050" dir="2700000" algn="tl" rotWithShape="0">
                      <a:schemeClr val="dk1">
                        <a:alpha val="40000"/>
                      </a:schemeClr>
                    </a:outerShdw>
                  </a:effectLst>
                </a:rPr>
                <a:t>PAMANTASAN NG LUNGSOD NG MUNTINLUPA</a:t>
              </a:r>
              <a:br>
                <a:rPr lang="en-US" sz="1400" cap="none" dirty="0">
                  <a:ln w="0"/>
                  <a:effectLst>
                    <a:outerShdw blurRad="38100" dist="19050" dir="2700000" algn="tl" rotWithShape="0">
                      <a:schemeClr val="dk1">
                        <a:alpha val="40000"/>
                      </a:schemeClr>
                    </a:outerShdw>
                  </a:effectLst>
                </a:rPr>
              </a:br>
              <a:r>
                <a:rPr lang="en-US" sz="900" i="1" cap="none" dirty="0">
                  <a:ln w="0"/>
                  <a:effectLst>
                    <a:outerShdw blurRad="38100" dist="19050" dir="2700000" algn="tl" rotWithShape="0">
                      <a:schemeClr val="dk1">
                        <a:alpha val="40000"/>
                      </a:schemeClr>
                    </a:outerShdw>
                  </a:effectLst>
                </a:rPr>
                <a:t>University Road, Poblacion, Muntinlupa City</a:t>
              </a:r>
              <a:endParaRPr lang="en-US" sz="1800" i="1" cap="none" dirty="0">
                <a:ln w="0"/>
                <a:effectLst>
                  <a:outerShdw blurRad="38100" dist="19050" dir="2700000" algn="tl" rotWithShape="0">
                    <a:schemeClr val="dk1">
                      <a:alpha val="40000"/>
                    </a:schemeClr>
                  </a:outerShdw>
                </a:effectLst>
              </a:endParaRPr>
            </a:p>
            <a:p>
              <a:pPr algn="ctr"/>
              <a:r>
                <a:rPr lang="en-US" sz="1800" cap="none"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College of Information Technology and Computer Studies</a:t>
              </a:r>
            </a:p>
            <a:p>
              <a:pPr algn="ctr"/>
              <a:endParaRPr lang="en-US" sz="1600" cap="none"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pic>
          <p:nvPicPr>
            <p:cNvPr id="10" name="Picture 9"/>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35625" y="110866"/>
              <a:ext cx="943108" cy="911046"/>
            </a:xfrm>
            <a:prstGeom prst="rect">
              <a:avLst/>
            </a:prstGeom>
            <a:noFill/>
            <a:ln>
              <a:noFill/>
            </a:ln>
          </p:spPr>
        </p:pic>
        <p:pic>
          <p:nvPicPr>
            <p:cNvPr id="11" name="Picture 10" descr="CITCS Logo - Copy.pn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836368" y="150074"/>
              <a:ext cx="1105321" cy="812568"/>
            </a:xfrm>
            <a:prstGeom prst="rect">
              <a:avLst/>
            </a:prstGeom>
            <a:noFill/>
            <a:ln>
              <a:noFill/>
            </a:ln>
          </p:spPr>
        </p:pic>
      </p:grpSp>
    </p:spTree>
    <p:extLst>
      <p:ext uri="{BB962C8B-B14F-4D97-AF65-F5344CB8AC3E}">
        <p14:creationId xmlns:p14="http://schemas.microsoft.com/office/powerpoint/2010/main" val="23198914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1186130"/>
            <a:ext cx="10058400" cy="551229"/>
          </a:xfrm>
        </p:spPr>
        <p:txBody>
          <a:bodyPr>
            <a:normAutofit fontScale="90000"/>
          </a:bodyPr>
          <a:lstStyle/>
          <a:p>
            <a:r>
              <a:rPr lang="en-PH" sz="3600" b="1" dirty="0"/>
              <a:t>Objectives :</a:t>
            </a:r>
            <a:r>
              <a:rPr lang="en-PH" sz="2800" b="1" dirty="0"/>
              <a:t> </a:t>
            </a:r>
            <a:r>
              <a:rPr lang="en-PH" sz="2800" i="1" dirty="0"/>
              <a:t>What do you intend to accomplished?</a:t>
            </a:r>
            <a:endParaRPr lang="en-US" sz="2800" dirty="0"/>
          </a:p>
        </p:txBody>
      </p:sp>
      <p:sp>
        <p:nvSpPr>
          <p:cNvPr id="3" name="Content Placeholder 2"/>
          <p:cNvSpPr>
            <a:spLocks noGrp="1"/>
          </p:cNvSpPr>
          <p:nvPr>
            <p:ph idx="1"/>
          </p:nvPr>
        </p:nvSpPr>
        <p:spPr>
          <a:xfrm>
            <a:off x="1066800" y="1741041"/>
            <a:ext cx="10058400" cy="4383616"/>
          </a:xfrm>
        </p:spPr>
        <p:txBody>
          <a:bodyPr>
            <a:normAutofit fontScale="92500" lnSpcReduction="10000"/>
          </a:bodyPr>
          <a:lstStyle/>
          <a:p>
            <a:r>
              <a:rPr lang="en-PH" sz="1800" b="1" dirty="0"/>
              <a:t>Objectives:</a:t>
            </a:r>
          </a:p>
          <a:p>
            <a:r>
              <a:rPr lang="en-US" dirty="0"/>
              <a:t>The educational quiz mobile application will use interactive learning and adaptive assessment features to create personalized learning pathways for students while providing educators with content that matches their curriculum needs and learning progress data.</a:t>
            </a:r>
            <a:endParaRPr lang="en-PH" sz="1800" dirty="0"/>
          </a:p>
          <a:p>
            <a:pPr marL="0" indent="0">
              <a:buNone/>
            </a:pPr>
            <a:r>
              <a:rPr lang="en-PH" sz="1800" b="1" dirty="0"/>
              <a:t> Specific Objectives:</a:t>
            </a:r>
          </a:p>
          <a:p>
            <a:pPr marL="447675" indent="-276225">
              <a:buFont typeface="+mj-lt"/>
              <a:buAutoNum type="arabicPeriod"/>
            </a:pPr>
            <a:r>
              <a:rPr lang="en-US" b="1" dirty="0"/>
              <a:t>To design and develop a mobile quiz application with an intuitive user interface that supports both student and teacher functionalities.</a:t>
            </a:r>
            <a:endParaRPr lang="en-PH" sz="1800" dirty="0"/>
          </a:p>
          <a:p>
            <a:pPr marL="447675" indent="-276225">
              <a:buFont typeface="+mj-lt"/>
              <a:buAutoNum type="arabicPeriod"/>
            </a:pPr>
            <a:r>
              <a:rPr lang="en-US" b="1" dirty="0"/>
              <a:t>To improve student learning outcomes through an adaptive assessment system that adjusts question difficulty based on individual performance.</a:t>
            </a:r>
            <a:endParaRPr lang="en-PH" sz="1800" b="1" dirty="0"/>
          </a:p>
          <a:p>
            <a:pPr marL="447675" indent="-276225">
              <a:buFont typeface="+mj-lt"/>
              <a:buAutoNum type="arabicPeriod"/>
            </a:pPr>
            <a:r>
              <a:rPr lang="en-US" b="1" dirty="0"/>
              <a:t>Provide a teacher dashboard with learning analytics and curriculum-aligned content management</a:t>
            </a:r>
          </a:p>
          <a:p>
            <a:pPr marL="447675" indent="-276225">
              <a:buFont typeface="+mj-lt"/>
              <a:buAutoNum type="arabicPeriod"/>
            </a:pPr>
            <a:r>
              <a:rPr lang="en-US" b="1" dirty="0"/>
              <a:t>Enhances teaching effectiveness by allowing teachers to create and manage curriculum-aligned quiz content</a:t>
            </a:r>
          </a:p>
          <a:p>
            <a:pPr marL="447675" indent="-276225">
              <a:buFont typeface="+mj-lt"/>
              <a:buAutoNum type="arabicPeriod"/>
            </a:pPr>
            <a:endParaRPr lang="en-PH" sz="1800" dirty="0"/>
          </a:p>
          <a:p>
            <a:pPr marL="171450" indent="0">
              <a:buNone/>
            </a:pPr>
            <a:endParaRPr lang="en-PH" sz="1800" dirty="0"/>
          </a:p>
        </p:txBody>
      </p:sp>
      <p:grpSp>
        <p:nvGrpSpPr>
          <p:cNvPr id="7" name="Group 6"/>
          <p:cNvGrpSpPr/>
          <p:nvPr/>
        </p:nvGrpSpPr>
        <p:grpSpPr>
          <a:xfrm>
            <a:off x="-84663" y="-8467"/>
            <a:ext cx="12403663" cy="1151471"/>
            <a:chOff x="-84663" y="-8467"/>
            <a:chExt cx="12403663" cy="1151471"/>
          </a:xfrm>
        </p:grpSpPr>
        <p:sp>
          <p:nvSpPr>
            <p:cNvPr id="8" name="Rectangle 7"/>
            <p:cNvSpPr/>
            <p:nvPr/>
          </p:nvSpPr>
          <p:spPr>
            <a:xfrm>
              <a:off x="0" y="-8467"/>
              <a:ext cx="12192000" cy="115147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p:cNvSpPr txBox="1">
              <a:spLocks/>
            </p:cNvSpPr>
            <p:nvPr/>
          </p:nvSpPr>
          <p:spPr>
            <a:xfrm>
              <a:off x="-84663" y="67739"/>
              <a:ext cx="12403663" cy="1049865"/>
            </a:xfrm>
            <a:prstGeom prst="rect">
              <a:avLst/>
            </a:prstGeom>
            <a:solidFill>
              <a:schemeClr val="bg1"/>
            </a:solidFill>
            <a:effectLst>
              <a:softEdge rad="63500"/>
            </a:effectLst>
          </p:spPr>
          <p:txBody>
            <a:bodyPr vert="horz" lIns="91440" tIns="45720" rIns="91440" bIns="45720" rtlCol="0" anchor="b">
              <a:noAutofit/>
            </a:bodyPr>
            <a:lstStyle>
              <a:lvl1pPr algn="l" defTabSz="914400" rtl="0" eaLnBrk="1" latinLnBrk="0" hangingPunct="1">
                <a:lnSpc>
                  <a:spcPct val="90000"/>
                </a:lnSpc>
                <a:spcBef>
                  <a:spcPct val="0"/>
                </a:spcBef>
                <a:buNone/>
                <a:defRPr sz="6000" kern="1200" cap="all" baseline="0">
                  <a:solidFill>
                    <a:schemeClr val="tx1"/>
                  </a:solidFill>
                  <a:latin typeface="+mj-lt"/>
                  <a:ea typeface="+mj-ea"/>
                  <a:cs typeface="+mj-cs"/>
                </a:defRPr>
              </a:lvl1pPr>
            </a:lstStyle>
            <a:p>
              <a:pPr algn="ctr"/>
              <a:r>
                <a:rPr lang="en-US" sz="1600" cap="none" dirty="0">
                  <a:ln w="0"/>
                  <a:effectLst>
                    <a:outerShdw blurRad="38100" dist="19050" dir="2700000" algn="tl" rotWithShape="0">
                      <a:schemeClr val="dk1">
                        <a:alpha val="40000"/>
                      </a:schemeClr>
                    </a:outerShdw>
                  </a:effectLst>
                </a:rPr>
                <a:t>PAMANTASAN NG LUNGSOD NG MUNTINLUPA</a:t>
              </a:r>
              <a:br>
                <a:rPr lang="en-US" sz="1400" cap="none" dirty="0">
                  <a:ln w="0"/>
                  <a:effectLst>
                    <a:outerShdw blurRad="38100" dist="19050" dir="2700000" algn="tl" rotWithShape="0">
                      <a:schemeClr val="dk1">
                        <a:alpha val="40000"/>
                      </a:schemeClr>
                    </a:outerShdw>
                  </a:effectLst>
                </a:rPr>
              </a:br>
              <a:r>
                <a:rPr lang="en-US" sz="900" i="1" cap="none" dirty="0">
                  <a:ln w="0"/>
                  <a:effectLst>
                    <a:outerShdw blurRad="38100" dist="19050" dir="2700000" algn="tl" rotWithShape="0">
                      <a:schemeClr val="dk1">
                        <a:alpha val="40000"/>
                      </a:schemeClr>
                    </a:outerShdw>
                  </a:effectLst>
                </a:rPr>
                <a:t>University Road, Poblacion, Muntinlupa City</a:t>
              </a:r>
              <a:endParaRPr lang="en-US" sz="1800" i="1" cap="none" dirty="0">
                <a:ln w="0"/>
                <a:effectLst>
                  <a:outerShdw blurRad="38100" dist="19050" dir="2700000" algn="tl" rotWithShape="0">
                    <a:schemeClr val="dk1">
                      <a:alpha val="40000"/>
                    </a:schemeClr>
                  </a:outerShdw>
                </a:effectLst>
              </a:endParaRPr>
            </a:p>
            <a:p>
              <a:pPr algn="ctr"/>
              <a:r>
                <a:rPr lang="en-US" sz="1800" cap="none"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College of Information Technology and Computer Studies</a:t>
              </a:r>
            </a:p>
            <a:p>
              <a:pPr algn="ctr"/>
              <a:endParaRPr lang="en-US" sz="1600" cap="none"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pic>
          <p:nvPicPr>
            <p:cNvPr id="10" name="Picture 9"/>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35625" y="110866"/>
              <a:ext cx="943108" cy="911046"/>
            </a:xfrm>
            <a:prstGeom prst="rect">
              <a:avLst/>
            </a:prstGeom>
            <a:noFill/>
            <a:ln>
              <a:noFill/>
            </a:ln>
          </p:spPr>
        </p:pic>
        <p:pic>
          <p:nvPicPr>
            <p:cNvPr id="11" name="Picture 10" descr="CITCS Logo - Copy.pn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836368" y="150074"/>
              <a:ext cx="1105321" cy="812568"/>
            </a:xfrm>
            <a:prstGeom prst="rect">
              <a:avLst/>
            </a:prstGeom>
            <a:noFill/>
            <a:ln>
              <a:noFill/>
            </a:ln>
          </p:spPr>
        </p:pic>
      </p:grpSp>
    </p:spTree>
    <p:extLst>
      <p:ext uri="{BB962C8B-B14F-4D97-AF65-F5344CB8AC3E}">
        <p14:creationId xmlns:p14="http://schemas.microsoft.com/office/powerpoint/2010/main" val="29938134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1186130"/>
            <a:ext cx="10058400" cy="551229"/>
          </a:xfrm>
        </p:spPr>
        <p:txBody>
          <a:bodyPr>
            <a:normAutofit fontScale="90000"/>
          </a:bodyPr>
          <a:lstStyle/>
          <a:p>
            <a:r>
              <a:rPr lang="en-PH" sz="3600" b="1" dirty="0"/>
              <a:t>Manageability </a:t>
            </a:r>
            <a:r>
              <a:rPr lang="en-PH" sz="3600" dirty="0"/>
              <a:t>( Scope and Limitations ) </a:t>
            </a:r>
            <a:endParaRPr lang="en-US" sz="4000" dirty="0"/>
          </a:p>
        </p:txBody>
      </p:sp>
      <p:sp>
        <p:nvSpPr>
          <p:cNvPr id="3" name="Content Placeholder 2"/>
          <p:cNvSpPr>
            <a:spLocks noGrp="1"/>
          </p:cNvSpPr>
          <p:nvPr>
            <p:ph idx="1"/>
          </p:nvPr>
        </p:nvSpPr>
        <p:spPr/>
        <p:txBody>
          <a:bodyPr/>
          <a:lstStyle/>
          <a:p>
            <a:r>
              <a:rPr lang="en-PH" dirty="0"/>
              <a:t>Summary of Discussion</a:t>
            </a:r>
            <a:endParaRPr lang="en-US" dirty="0"/>
          </a:p>
        </p:txBody>
      </p:sp>
      <p:grpSp>
        <p:nvGrpSpPr>
          <p:cNvPr id="7" name="Group 6"/>
          <p:cNvGrpSpPr/>
          <p:nvPr/>
        </p:nvGrpSpPr>
        <p:grpSpPr>
          <a:xfrm>
            <a:off x="-84663" y="-8467"/>
            <a:ext cx="12403663" cy="1151471"/>
            <a:chOff x="-84663" y="-8467"/>
            <a:chExt cx="12403663" cy="1151471"/>
          </a:xfrm>
        </p:grpSpPr>
        <p:sp>
          <p:nvSpPr>
            <p:cNvPr id="8" name="Rectangle 7"/>
            <p:cNvSpPr/>
            <p:nvPr/>
          </p:nvSpPr>
          <p:spPr>
            <a:xfrm>
              <a:off x="0" y="-8467"/>
              <a:ext cx="12192000" cy="115147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p:cNvSpPr txBox="1">
              <a:spLocks/>
            </p:cNvSpPr>
            <p:nvPr/>
          </p:nvSpPr>
          <p:spPr>
            <a:xfrm>
              <a:off x="-84663" y="67739"/>
              <a:ext cx="12403663" cy="1049865"/>
            </a:xfrm>
            <a:prstGeom prst="rect">
              <a:avLst/>
            </a:prstGeom>
            <a:solidFill>
              <a:schemeClr val="bg1"/>
            </a:solidFill>
            <a:effectLst>
              <a:softEdge rad="63500"/>
            </a:effectLst>
          </p:spPr>
          <p:txBody>
            <a:bodyPr vert="horz" lIns="91440" tIns="45720" rIns="91440" bIns="45720" rtlCol="0" anchor="b">
              <a:noAutofit/>
            </a:bodyPr>
            <a:lstStyle>
              <a:lvl1pPr algn="l" defTabSz="914400" rtl="0" eaLnBrk="1" latinLnBrk="0" hangingPunct="1">
                <a:lnSpc>
                  <a:spcPct val="90000"/>
                </a:lnSpc>
                <a:spcBef>
                  <a:spcPct val="0"/>
                </a:spcBef>
                <a:buNone/>
                <a:defRPr sz="6000" kern="1200" cap="all" baseline="0">
                  <a:solidFill>
                    <a:schemeClr val="tx1"/>
                  </a:solidFill>
                  <a:latin typeface="+mj-lt"/>
                  <a:ea typeface="+mj-ea"/>
                  <a:cs typeface="+mj-cs"/>
                </a:defRPr>
              </a:lvl1pPr>
            </a:lstStyle>
            <a:p>
              <a:pPr algn="ctr"/>
              <a:r>
                <a:rPr lang="en-US" sz="1600" cap="none" dirty="0">
                  <a:ln w="0"/>
                  <a:effectLst>
                    <a:outerShdw blurRad="38100" dist="19050" dir="2700000" algn="tl" rotWithShape="0">
                      <a:schemeClr val="dk1">
                        <a:alpha val="40000"/>
                      </a:schemeClr>
                    </a:outerShdw>
                  </a:effectLst>
                </a:rPr>
                <a:t>PAMANTASAN NG LUNGSOD NG MUNTINLUPA</a:t>
              </a:r>
              <a:br>
                <a:rPr lang="en-US" sz="1400" cap="none" dirty="0">
                  <a:ln w="0"/>
                  <a:effectLst>
                    <a:outerShdw blurRad="38100" dist="19050" dir="2700000" algn="tl" rotWithShape="0">
                      <a:schemeClr val="dk1">
                        <a:alpha val="40000"/>
                      </a:schemeClr>
                    </a:outerShdw>
                  </a:effectLst>
                </a:rPr>
              </a:br>
              <a:r>
                <a:rPr lang="en-US" sz="900" i="1" cap="none" dirty="0">
                  <a:ln w="0"/>
                  <a:effectLst>
                    <a:outerShdw blurRad="38100" dist="19050" dir="2700000" algn="tl" rotWithShape="0">
                      <a:schemeClr val="dk1">
                        <a:alpha val="40000"/>
                      </a:schemeClr>
                    </a:outerShdw>
                  </a:effectLst>
                </a:rPr>
                <a:t>University Road, Poblacion, Muntinlupa City</a:t>
              </a:r>
              <a:endParaRPr lang="en-US" sz="1800" i="1" cap="none" dirty="0">
                <a:ln w="0"/>
                <a:effectLst>
                  <a:outerShdw blurRad="38100" dist="19050" dir="2700000" algn="tl" rotWithShape="0">
                    <a:schemeClr val="dk1">
                      <a:alpha val="40000"/>
                    </a:schemeClr>
                  </a:outerShdw>
                </a:effectLst>
              </a:endParaRPr>
            </a:p>
            <a:p>
              <a:pPr algn="ctr"/>
              <a:r>
                <a:rPr lang="en-US" sz="1800" cap="none"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College of Information Technology and Computer Studies</a:t>
              </a:r>
            </a:p>
            <a:p>
              <a:pPr algn="ctr"/>
              <a:endParaRPr lang="en-US" sz="1600" cap="none"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pic>
          <p:nvPicPr>
            <p:cNvPr id="10" name="Picture 9"/>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35625" y="110866"/>
              <a:ext cx="943108" cy="911046"/>
            </a:xfrm>
            <a:prstGeom prst="rect">
              <a:avLst/>
            </a:prstGeom>
            <a:noFill/>
            <a:ln>
              <a:noFill/>
            </a:ln>
          </p:spPr>
        </p:pic>
        <p:pic>
          <p:nvPicPr>
            <p:cNvPr id="11" name="Picture 10" descr="CITCS Logo - Copy.pn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836368" y="150074"/>
              <a:ext cx="1105321" cy="812568"/>
            </a:xfrm>
            <a:prstGeom prst="rect">
              <a:avLst/>
            </a:prstGeom>
            <a:noFill/>
            <a:ln>
              <a:noFill/>
            </a:ln>
          </p:spPr>
        </p:pic>
      </p:grpSp>
    </p:spTree>
    <p:extLst>
      <p:ext uri="{BB962C8B-B14F-4D97-AF65-F5344CB8AC3E}">
        <p14:creationId xmlns:p14="http://schemas.microsoft.com/office/powerpoint/2010/main" val="8751511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1160731"/>
            <a:ext cx="10058400" cy="576629"/>
          </a:xfrm>
        </p:spPr>
        <p:txBody>
          <a:bodyPr>
            <a:normAutofit/>
          </a:bodyPr>
          <a:lstStyle/>
          <a:p>
            <a:r>
              <a:rPr lang="en-US" sz="3600" dirty="0"/>
              <a:t>End Presentation</a:t>
            </a:r>
          </a:p>
        </p:txBody>
      </p:sp>
      <p:sp>
        <p:nvSpPr>
          <p:cNvPr id="7" name="Content Placeholder 2"/>
          <p:cNvSpPr>
            <a:spLocks noGrp="1"/>
          </p:cNvSpPr>
          <p:nvPr>
            <p:ph idx="1"/>
          </p:nvPr>
        </p:nvSpPr>
        <p:spPr>
          <a:xfrm>
            <a:off x="2805452" y="2836403"/>
            <a:ext cx="5667237" cy="567194"/>
          </a:xfrm>
        </p:spPr>
        <p:txBody>
          <a:bodyPr>
            <a:noAutofit/>
          </a:bodyPr>
          <a:lstStyle/>
          <a:p>
            <a:pPr marL="0" indent="0" algn="ctr">
              <a:buNone/>
            </a:pPr>
            <a:r>
              <a:rPr lang="en-US" sz="9600" b="1" dirty="0">
                <a:ln w="9525">
                  <a:solidFill>
                    <a:schemeClr val="bg1"/>
                  </a:solidFill>
                  <a:prstDash val="solid"/>
                </a:ln>
                <a:effectLst>
                  <a:outerShdw blurRad="12700" dist="38100" dir="2700000" algn="tl" rotWithShape="0">
                    <a:schemeClr val="bg1">
                      <a:lumMod val="50000"/>
                    </a:schemeClr>
                  </a:outerShdw>
                </a:effectLst>
              </a:rPr>
              <a:t>Thank You</a:t>
            </a:r>
          </a:p>
        </p:txBody>
      </p:sp>
      <p:grpSp>
        <p:nvGrpSpPr>
          <p:cNvPr id="8" name="Group 7"/>
          <p:cNvGrpSpPr/>
          <p:nvPr/>
        </p:nvGrpSpPr>
        <p:grpSpPr>
          <a:xfrm>
            <a:off x="-84663" y="-8467"/>
            <a:ext cx="12403663" cy="1151471"/>
            <a:chOff x="-84663" y="-8467"/>
            <a:chExt cx="12403663" cy="1151471"/>
          </a:xfrm>
        </p:grpSpPr>
        <p:sp>
          <p:nvSpPr>
            <p:cNvPr id="9" name="Rectangle 8"/>
            <p:cNvSpPr/>
            <p:nvPr/>
          </p:nvSpPr>
          <p:spPr>
            <a:xfrm>
              <a:off x="0" y="-8467"/>
              <a:ext cx="12192000" cy="115147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1"/>
            <p:cNvSpPr txBox="1">
              <a:spLocks/>
            </p:cNvSpPr>
            <p:nvPr/>
          </p:nvSpPr>
          <p:spPr>
            <a:xfrm>
              <a:off x="-84663" y="67739"/>
              <a:ext cx="12403663" cy="1049865"/>
            </a:xfrm>
            <a:prstGeom prst="rect">
              <a:avLst/>
            </a:prstGeom>
            <a:solidFill>
              <a:schemeClr val="bg1"/>
            </a:solidFill>
            <a:effectLst>
              <a:softEdge rad="63500"/>
            </a:effectLst>
          </p:spPr>
          <p:txBody>
            <a:bodyPr vert="horz" lIns="91440" tIns="45720" rIns="91440" bIns="45720" rtlCol="0" anchor="b">
              <a:noAutofit/>
            </a:bodyPr>
            <a:lstStyle>
              <a:lvl1pPr algn="l" defTabSz="914400" rtl="0" eaLnBrk="1" latinLnBrk="0" hangingPunct="1">
                <a:lnSpc>
                  <a:spcPct val="90000"/>
                </a:lnSpc>
                <a:spcBef>
                  <a:spcPct val="0"/>
                </a:spcBef>
                <a:buNone/>
                <a:defRPr sz="6000" kern="1200" cap="all" baseline="0">
                  <a:solidFill>
                    <a:schemeClr val="tx1"/>
                  </a:solidFill>
                  <a:latin typeface="+mj-lt"/>
                  <a:ea typeface="+mj-ea"/>
                  <a:cs typeface="+mj-cs"/>
                </a:defRPr>
              </a:lvl1pPr>
            </a:lstStyle>
            <a:p>
              <a:pPr algn="ctr"/>
              <a:r>
                <a:rPr lang="en-US" sz="1600" cap="none" dirty="0">
                  <a:ln w="0"/>
                  <a:effectLst>
                    <a:outerShdw blurRad="38100" dist="19050" dir="2700000" algn="tl" rotWithShape="0">
                      <a:schemeClr val="dk1">
                        <a:alpha val="40000"/>
                      </a:schemeClr>
                    </a:outerShdw>
                  </a:effectLst>
                </a:rPr>
                <a:t>PAMANTASAN NG LUNGSOD NG MUNTINLUPA</a:t>
              </a:r>
              <a:br>
                <a:rPr lang="en-US" sz="1400" cap="none" dirty="0">
                  <a:ln w="0"/>
                  <a:effectLst>
                    <a:outerShdw blurRad="38100" dist="19050" dir="2700000" algn="tl" rotWithShape="0">
                      <a:schemeClr val="dk1">
                        <a:alpha val="40000"/>
                      </a:schemeClr>
                    </a:outerShdw>
                  </a:effectLst>
                </a:rPr>
              </a:br>
              <a:r>
                <a:rPr lang="en-US" sz="900" i="1" cap="none" dirty="0">
                  <a:ln w="0"/>
                  <a:effectLst>
                    <a:outerShdw blurRad="38100" dist="19050" dir="2700000" algn="tl" rotWithShape="0">
                      <a:schemeClr val="dk1">
                        <a:alpha val="40000"/>
                      </a:schemeClr>
                    </a:outerShdw>
                  </a:effectLst>
                </a:rPr>
                <a:t>University Road, Poblacion, Muntinlupa City</a:t>
              </a:r>
              <a:endParaRPr lang="en-US" sz="1800" i="1" cap="none" dirty="0">
                <a:ln w="0"/>
                <a:effectLst>
                  <a:outerShdw blurRad="38100" dist="19050" dir="2700000" algn="tl" rotWithShape="0">
                    <a:schemeClr val="dk1">
                      <a:alpha val="40000"/>
                    </a:schemeClr>
                  </a:outerShdw>
                </a:effectLst>
              </a:endParaRPr>
            </a:p>
            <a:p>
              <a:pPr algn="ctr"/>
              <a:r>
                <a:rPr lang="en-US" sz="1800" cap="none"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College of Information Technology and Computer Studies</a:t>
              </a:r>
            </a:p>
            <a:p>
              <a:pPr algn="ctr"/>
              <a:endParaRPr lang="en-US" sz="1600" cap="none"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pic>
          <p:nvPicPr>
            <p:cNvPr id="11" name="Picture 10"/>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35625" y="110866"/>
              <a:ext cx="943108" cy="911046"/>
            </a:xfrm>
            <a:prstGeom prst="rect">
              <a:avLst/>
            </a:prstGeom>
            <a:noFill/>
            <a:ln>
              <a:noFill/>
            </a:ln>
          </p:spPr>
        </p:pic>
        <p:pic>
          <p:nvPicPr>
            <p:cNvPr id="12" name="Picture 11" descr="CITCS Logo - Copy.png"/>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836368" y="150074"/>
              <a:ext cx="1105321" cy="812568"/>
            </a:xfrm>
            <a:prstGeom prst="rect">
              <a:avLst/>
            </a:prstGeom>
            <a:noFill/>
            <a:ln>
              <a:noFill/>
            </a:ln>
          </p:spPr>
        </p:pic>
      </p:grpSp>
    </p:spTree>
    <p:extLst>
      <p:ext uri="{BB962C8B-B14F-4D97-AF65-F5344CB8AC3E}">
        <p14:creationId xmlns:p14="http://schemas.microsoft.com/office/powerpoint/2010/main" val="1438930690"/>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6B9F25"/>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D26EA377-59BD-4C9C-9D94-EE8416EE4C79}"/>
    </a:ext>
  </a:extLst>
</a:theme>
</file>

<file path=docProps/app.xml><?xml version="1.0" encoding="utf-8"?>
<Properties xmlns="http://schemas.openxmlformats.org/officeDocument/2006/extended-properties" xmlns:vt="http://schemas.openxmlformats.org/officeDocument/2006/docPropsVTypes">
  <Template>Retrospect</Template>
  <TotalTime>179</TotalTime>
  <Words>364</Words>
  <Application>Microsoft Office PowerPoint</Application>
  <PresentationFormat>Widescreen</PresentationFormat>
  <Paragraphs>25</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Calibri</vt:lpstr>
      <vt:lpstr>Calibri Light</vt:lpstr>
      <vt:lpstr>Times New Roman</vt:lpstr>
      <vt:lpstr>Retrospect</vt:lpstr>
      <vt:lpstr>PowerPoint Presentation</vt:lpstr>
      <vt:lpstr>Definition of the Topic ( About the Project )</vt:lpstr>
      <vt:lpstr>Objectives : What do you intend to accomplished?</vt:lpstr>
      <vt:lpstr>Manageability ( Scope and Limitations ) </vt:lpstr>
      <vt:lpstr>End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Solatorio</dc:creator>
  <cp:lastModifiedBy>carolen magat</cp:lastModifiedBy>
  <cp:revision>20</cp:revision>
  <dcterms:created xsi:type="dcterms:W3CDTF">2021-07-06T11:54:27Z</dcterms:created>
  <dcterms:modified xsi:type="dcterms:W3CDTF">2026-03-22T19:11:26Z</dcterms:modified>
</cp:coreProperties>
</file>